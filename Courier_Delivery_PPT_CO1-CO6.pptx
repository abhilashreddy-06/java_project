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Courier Delivery Route &amp; Tracking System</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A Java-based package tracking and route management project</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1</a:t>
            </a:r>
          </a:p>
        </p:txBody>
      </p:sp>
      <p:sp>
        <p:nvSpPr>
          <p:cNvPr id="6" name="TextBox 5"/>
          <p:cNvSpPr txBox="1"/>
          <p:nvPr/>
        </p:nvSpPr>
        <p:spPr>
          <a:xfrm>
            <a:off x="731520" y="1508760"/>
            <a:ext cx="5029200" cy="320040"/>
          </a:xfrm>
          <a:prstGeom prst="rect">
            <a:avLst/>
          </a:prstGeom>
          <a:noFill/>
        </p:spPr>
        <p:txBody>
          <a:bodyPr wrap="square" lIns="45720" rIns="45720" tIns="36576" bIns="27432">
            <a:spAutoFit/>
          </a:bodyPr>
          <a:lstStyle/>
          <a:p>
            <a:pPr>
              <a:spcAft>
                <a:spcPts val="500"/>
              </a:spcAft>
              <a:defRPr sz="1400" b="1">
                <a:solidFill>
                  <a:srgbClr val="F5BE2B"/>
                </a:solidFill>
                <a:latin typeface="Aptos"/>
              </a:defRPr>
            </a:pPr>
            <a:r>
              <a:t>CAPSTONE PROJECT</a:t>
            </a:r>
          </a:p>
        </p:txBody>
      </p:sp>
      <p:sp>
        <p:nvSpPr>
          <p:cNvPr id="7" name="TextBox 6"/>
          <p:cNvSpPr txBox="1"/>
          <p:nvPr/>
        </p:nvSpPr>
        <p:spPr>
          <a:xfrm>
            <a:off x="731520" y="1874519"/>
            <a:ext cx="10698480" cy="1325880"/>
          </a:xfrm>
          <a:prstGeom prst="rect">
            <a:avLst/>
          </a:prstGeom>
          <a:noFill/>
        </p:spPr>
        <p:txBody>
          <a:bodyPr wrap="square" lIns="45720" rIns="45720" tIns="36576" bIns="27432">
            <a:spAutoFit/>
          </a:bodyPr>
          <a:lstStyle/>
          <a:p>
            <a:pPr>
              <a:spcAft>
                <a:spcPts val="500"/>
              </a:spcAft>
              <a:defRPr sz="3400" b="1">
                <a:solidFill>
                  <a:srgbClr val="F5BE2B"/>
                </a:solidFill>
                <a:latin typeface="Aptos"/>
              </a:defRPr>
            </a:pPr>
            <a:r>
              <a:t>Courier Delivery Route</a:t>
            </a:r>
          </a:p>
          <a:p>
            <a:pPr>
              <a:spcAft>
                <a:spcPts val="500"/>
              </a:spcAft>
              <a:defRPr sz="3400" b="1">
                <a:solidFill>
                  <a:srgbClr val="F5BE2B"/>
                </a:solidFill>
                <a:latin typeface="Aptos"/>
              </a:defRPr>
            </a:pPr>
            <a:r>
              <a:t>&amp; Tracking System</a:t>
            </a:r>
          </a:p>
        </p:txBody>
      </p:sp>
      <p:sp>
        <p:nvSpPr>
          <p:cNvPr id="8" name="TextBox 7"/>
          <p:cNvSpPr txBox="1"/>
          <p:nvPr/>
        </p:nvSpPr>
        <p:spPr>
          <a:xfrm>
            <a:off x="777240" y="3977639"/>
            <a:ext cx="2011680" cy="274320"/>
          </a:xfrm>
          <a:prstGeom prst="rect">
            <a:avLst/>
          </a:prstGeom>
          <a:noFill/>
        </p:spPr>
        <p:txBody>
          <a:bodyPr wrap="square" lIns="45720" rIns="45720" tIns="36576" bIns="27432">
            <a:spAutoFit/>
          </a:bodyPr>
          <a:lstStyle/>
          <a:p>
            <a:pPr>
              <a:spcAft>
                <a:spcPts val="500"/>
              </a:spcAft>
              <a:defRPr sz="1200" b="1">
                <a:solidFill>
                  <a:srgbClr val="F5BE2B"/>
                </a:solidFill>
                <a:latin typeface="Aptos"/>
              </a:defRPr>
            </a:pPr>
            <a:r>
              <a:t>TEAM MEMBERS</a:t>
            </a:r>
          </a:p>
        </p:txBody>
      </p:sp>
      <p:sp>
        <p:nvSpPr>
          <p:cNvPr id="9" name="TextBox 8"/>
          <p:cNvSpPr txBox="1"/>
          <p:nvPr/>
        </p:nvSpPr>
        <p:spPr>
          <a:xfrm>
            <a:off x="777240" y="4343400"/>
            <a:ext cx="6126480" cy="731520"/>
          </a:xfrm>
          <a:prstGeom prst="rect">
            <a:avLst/>
          </a:prstGeom>
          <a:noFill/>
        </p:spPr>
        <p:txBody>
          <a:bodyPr wrap="square" lIns="45720" rIns="45720" tIns="36576" bIns="27432">
            <a:spAutoFit/>
          </a:bodyPr>
          <a:lstStyle/>
          <a:p>
            <a:pPr>
              <a:spcAft>
                <a:spcPts val="500"/>
              </a:spcAft>
              <a:defRPr sz="1500" b="0">
                <a:solidFill>
                  <a:srgbClr val="B1B6C0"/>
                </a:solidFill>
                <a:latin typeface="Aptos"/>
              </a:defRPr>
            </a:pPr>
            <a:r>
              <a:t>N. ABHINAV REDDY  •  2620030284</a:t>
            </a:r>
          </a:p>
          <a:p>
            <a:pPr>
              <a:spcAft>
                <a:spcPts val="500"/>
              </a:spcAft>
              <a:defRPr sz="1500" b="0">
                <a:solidFill>
                  <a:srgbClr val="B1B6C0"/>
                </a:solidFill>
                <a:latin typeface="Aptos"/>
              </a:defRPr>
            </a:pPr>
            <a:r>
              <a:t>KABHILASH REDDY  •  2620090124</a:t>
            </a:r>
          </a:p>
        </p:txBody>
      </p:sp>
      <p:sp>
        <p:nvSpPr>
          <p:cNvPr id="10" name="TextBox 9"/>
          <p:cNvSpPr txBox="1"/>
          <p:nvPr/>
        </p:nvSpPr>
        <p:spPr>
          <a:xfrm>
            <a:off x="6766560" y="4617720"/>
            <a:ext cx="4480560" cy="320040"/>
          </a:xfrm>
          <a:prstGeom prst="rect">
            <a:avLst/>
          </a:prstGeom>
          <a:noFill/>
        </p:spPr>
        <p:txBody>
          <a:bodyPr wrap="square" lIns="45720" rIns="45720" tIns="36576" bIns="27432">
            <a:spAutoFit/>
          </a:bodyPr>
          <a:lstStyle/>
          <a:p>
            <a:pPr algn="r">
              <a:spcAft>
                <a:spcPts val="500"/>
              </a:spcAft>
              <a:defRPr sz="1300" b="1">
                <a:solidFill>
                  <a:srgbClr val="F5BE2B"/>
                </a:solidFill>
                <a:latin typeface="Aptos"/>
              </a:defRPr>
            </a:pPr>
            <a:r>
              <a:t>FULL SYLLABUS COVERAGE  •  CO1–CO6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Abstract</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A practical Java project for package and route management</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2</a:t>
            </a:r>
          </a:p>
        </p:txBody>
      </p:sp>
      <p:sp>
        <p:nvSpPr>
          <p:cNvPr id="6" name="TextBox 5"/>
          <p:cNvSpPr txBox="1"/>
          <p:nvPr/>
        </p:nvSpPr>
        <p:spPr>
          <a:xfrm>
            <a:off x="731520" y="1645920"/>
            <a:ext cx="6629400" cy="182880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The Courier Delivery Route and Tracking System is a simple Java-based project designed to manage courier details and track delivery routes. It stores package IDs, sender and receiver details, weight, destination, and delivery status in an organized way.</a:t>
            </a:r>
          </a:p>
        </p:txBody>
      </p:sp>
      <p:sp>
        <p:nvSpPr>
          <p:cNvPr id="7" name="TextBox 6"/>
          <p:cNvSpPr txBox="1"/>
          <p:nvPr/>
        </p:nvSpPr>
        <p:spPr>
          <a:xfrm>
            <a:off x="731520" y="3657600"/>
            <a:ext cx="6629400" cy="1645920"/>
          </a:xfrm>
          <a:prstGeom prst="rect">
            <a:avLst/>
          </a:prstGeom>
          <a:noFill/>
        </p:spPr>
        <p:txBody>
          <a:bodyPr wrap="square" lIns="45720" rIns="45720" tIns="36576" bIns="27432">
            <a:spAutoFit/>
          </a:bodyPr>
          <a:lstStyle/>
          <a:p>
            <a:pPr>
              <a:spcAft>
                <a:spcPts val="500"/>
              </a:spcAft>
              <a:defRPr sz="1600" b="0">
                <a:solidFill>
                  <a:srgbClr val="B1B6C0"/>
                </a:solidFill>
                <a:latin typeface="Aptos"/>
              </a:defRPr>
            </a:pPr>
            <a:r>
              <a:t>Users can view courier information, check package status, and follow a planned route from the warehouse through delivery stops to the customer. The project demonstrates Java fundamentals and can be extended with object-oriented design, text-file storage, collections, and streams.</a:t>
            </a:r>
          </a:p>
        </p:txBody>
      </p:sp>
      <p:sp>
        <p:nvSpPr>
          <p:cNvPr id="8" name="Rounded Rectangle 7"/>
          <p:cNvSpPr/>
          <p:nvPr/>
        </p:nvSpPr>
        <p:spPr>
          <a:xfrm>
            <a:off x="7818120" y="1691640"/>
            <a:ext cx="3474720" cy="356616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331720"/>
            <a:ext cx="3017520" cy="2011680"/>
          </a:xfrm>
          <a:prstGeom prst="rect">
            <a:avLst/>
          </a:prstGeom>
          <a:noFill/>
        </p:spPr>
        <p:txBody>
          <a:bodyPr wrap="square" lIns="45720" rIns="45720" tIns="36576" bIns="27432">
            <a:spAutoFit/>
          </a:bodyPr>
          <a:lstStyle/>
          <a:p>
            <a:pPr algn="ctr">
              <a:spcAft>
                <a:spcPts val="500"/>
              </a:spcAft>
              <a:defRPr sz="2300" b="1">
                <a:solidFill>
                  <a:srgbClr val="F5BE2B"/>
                </a:solidFill>
                <a:latin typeface="Aptos"/>
              </a:defRPr>
            </a:pPr>
            <a:r>
              <a:t>PACKAGE</a:t>
            </a:r>
          </a:p>
          <a:p>
            <a:pPr algn="ctr">
              <a:spcAft>
                <a:spcPts val="500"/>
              </a:spcAft>
              <a:defRPr sz="2300" b="1">
                <a:solidFill>
                  <a:srgbClr val="F5BE2B"/>
                </a:solidFill>
                <a:latin typeface="Aptos"/>
              </a:defRPr>
            </a:pPr>
            <a:r>
              <a:t>→ ROUTE</a:t>
            </a:r>
          </a:p>
          <a:p>
            <a:pPr algn="ctr">
              <a:spcAft>
                <a:spcPts val="500"/>
              </a:spcAft>
              <a:defRPr sz="2300" b="1">
                <a:solidFill>
                  <a:srgbClr val="F5BE2B"/>
                </a:solidFill>
                <a:latin typeface="Aptos"/>
              </a:defRPr>
            </a:pPr>
            <a:r>
              <a:t>→ STATUS</a:t>
            </a:r>
          </a:p>
          <a:p>
            <a:pPr algn="ctr">
              <a:spcAft>
                <a:spcPts val="500"/>
              </a:spcAft>
              <a:defRPr sz="2300" b="1">
                <a:solidFill>
                  <a:srgbClr val="F5BE2B"/>
                </a:solidFill>
                <a:latin typeface="Aptos"/>
              </a:defRPr>
            </a:pPr>
            <a:r>
              <a:t>→ DELIVERY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Introduction</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Courier delivery is an important part of modern logistics and online shopping.</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3</a:t>
            </a:r>
          </a:p>
        </p:txBody>
      </p:sp>
      <p:sp>
        <p:nvSpPr>
          <p:cNvPr id="6" name="TextBox 5"/>
          <p:cNvSpPr txBox="1"/>
          <p:nvPr/>
        </p:nvSpPr>
        <p:spPr>
          <a:xfrm>
            <a:off x="777240" y="1828800"/>
            <a:ext cx="10424160" cy="1508760"/>
          </a:xfrm>
          <a:prstGeom prst="rect">
            <a:avLst/>
          </a:prstGeom>
          <a:noFill/>
        </p:spPr>
        <p:txBody>
          <a:bodyPr wrap="square" lIns="45720" rIns="45720" tIns="36576" bIns="27432">
            <a:spAutoFit/>
          </a:bodyPr>
          <a:lstStyle/>
          <a:p>
            <a:pPr>
              <a:spcAft>
                <a:spcPts val="500"/>
              </a:spcAft>
              <a:defRPr sz="2100" b="0">
                <a:solidFill>
                  <a:srgbClr val="F2F3F6"/>
                </a:solidFill>
                <a:latin typeface="Aptos"/>
              </a:defRPr>
            </a:pPr>
            <a:r>
              <a:t>A Courier Delivery Route and Tracking System helps organize courier details, delivery destinations, routes, and delivery status. It makes the delivery process easier to manage and helps keep track of packages from pickup to destination.</a:t>
            </a:r>
          </a:p>
        </p:txBody>
      </p:sp>
      <p:sp>
        <p:nvSpPr>
          <p:cNvPr id="7" name="Rounded Rectangle 6"/>
          <p:cNvSpPr/>
          <p:nvPr/>
        </p:nvSpPr>
        <p:spPr>
          <a:xfrm>
            <a:off x="777240" y="3886200"/>
            <a:ext cx="10515600" cy="123444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133087"/>
            <a:ext cx="1920240" cy="274320"/>
          </a:xfrm>
          <a:prstGeom prst="rect">
            <a:avLst/>
          </a:prstGeom>
          <a:noFill/>
        </p:spPr>
        <p:txBody>
          <a:bodyPr wrap="square" lIns="45720" rIns="45720" tIns="36576" bIns="27432">
            <a:spAutoFit/>
          </a:bodyPr>
          <a:lstStyle/>
          <a:p>
            <a:pPr>
              <a:spcAft>
                <a:spcPts val="500"/>
              </a:spcAft>
              <a:defRPr sz="1400" b="1">
                <a:solidFill>
                  <a:srgbClr val="F5BE2B"/>
                </a:solidFill>
                <a:latin typeface="Aptos"/>
              </a:defRPr>
            </a:pPr>
            <a:r>
              <a:t>PROJECT IDEA</a:t>
            </a:r>
          </a:p>
        </p:txBody>
      </p:sp>
      <p:sp>
        <p:nvSpPr>
          <p:cNvPr id="9" name="TextBox 8"/>
          <p:cNvSpPr txBox="1"/>
          <p:nvPr/>
        </p:nvSpPr>
        <p:spPr>
          <a:xfrm>
            <a:off x="2834640" y="4069080"/>
            <a:ext cx="8046720" cy="502920"/>
          </a:xfrm>
          <a:prstGeom prst="rect">
            <a:avLst/>
          </a:prstGeom>
          <a:noFill/>
        </p:spPr>
        <p:txBody>
          <a:bodyPr wrap="square" lIns="45720" rIns="45720" tIns="36576" bIns="27432">
            <a:spAutoFit/>
          </a:bodyPr>
          <a:lstStyle/>
          <a:p>
            <a:pPr>
              <a:spcAft>
                <a:spcPts val="500"/>
              </a:spcAft>
              <a:defRPr sz="1600" b="0">
                <a:solidFill>
                  <a:srgbClr val="F2F3F6"/>
                </a:solidFill>
                <a:latin typeface="Aptos"/>
              </a:defRPr>
            </a:pPr>
            <a:r>
              <a:t>Store package information  •  Organize stops  •  Update status  •  Display delivery 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Problem &amp; Objective</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Why the system is needed</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4</a:t>
            </a:r>
          </a:p>
        </p:txBody>
      </p:sp>
      <p:sp>
        <p:nvSpPr>
          <p:cNvPr id="6" name="Rounded Rectangle 5"/>
          <p:cNvSpPr/>
          <p:nvPr/>
        </p:nvSpPr>
        <p:spPr>
          <a:xfrm>
            <a:off x="685800" y="1508760"/>
            <a:ext cx="5166360" cy="438912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72200" y="1508760"/>
            <a:ext cx="5166360" cy="438912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0512"/>
            <a:ext cx="43891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THE PROBLEM</a:t>
            </a:r>
          </a:p>
        </p:txBody>
      </p:sp>
      <p:sp>
        <p:nvSpPr>
          <p:cNvPr id="9" name="TextBox 8"/>
          <p:cNvSpPr txBox="1"/>
          <p:nvPr/>
        </p:nvSpPr>
        <p:spPr>
          <a:xfrm>
            <a:off x="960120" y="2267712"/>
            <a:ext cx="4526280" cy="310896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 Customers need accurate delivery status updates.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Couriers need an organized sequence for multiple stops.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Multiple packages must be managed without losing information.</a:t>
            </a:r>
          </a:p>
        </p:txBody>
      </p:sp>
      <p:sp>
        <p:nvSpPr>
          <p:cNvPr id="10" name="TextBox 9"/>
          <p:cNvSpPr txBox="1"/>
          <p:nvPr/>
        </p:nvSpPr>
        <p:spPr>
          <a:xfrm>
            <a:off x="6446520" y="1810512"/>
            <a:ext cx="43891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OBJECTIVES</a:t>
            </a:r>
          </a:p>
        </p:txBody>
      </p:sp>
      <p:sp>
        <p:nvSpPr>
          <p:cNvPr id="11" name="TextBox 10"/>
          <p:cNvSpPr txBox="1"/>
          <p:nvPr/>
        </p:nvSpPr>
        <p:spPr>
          <a:xfrm>
            <a:off x="6446520" y="2267712"/>
            <a:ext cx="4526280" cy="310896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 Manage courier and package details.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Track package delivery status.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Organize delivery routes.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Demonstrate practical Java programming concepts.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Java Implementation</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Package data and route management</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5</a:t>
            </a:r>
          </a:p>
        </p:txBody>
      </p:sp>
      <p:sp>
        <p:nvSpPr>
          <p:cNvPr id="6" name="TextBox 5"/>
          <p:cNvSpPr txBox="1"/>
          <p:nvPr/>
        </p:nvSpPr>
        <p:spPr>
          <a:xfrm>
            <a:off x="777240" y="1554480"/>
            <a:ext cx="475488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PACKAGE DATA</a:t>
            </a:r>
          </a:p>
        </p:txBody>
      </p:sp>
      <p:sp>
        <p:nvSpPr>
          <p:cNvPr id="7" name="TextBox 6"/>
          <p:cNvSpPr txBox="1"/>
          <p:nvPr/>
        </p:nvSpPr>
        <p:spPr>
          <a:xfrm>
            <a:off x="822960" y="2011680"/>
            <a:ext cx="4754880" cy="274320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 Package ID — String array</a:t>
            </a:r>
          </a:p>
          <a:p>
            <a:pPr>
              <a:spcAft>
                <a:spcPts val="500"/>
              </a:spcAft>
              <a:defRPr sz="1800" b="0">
                <a:solidFill>
                  <a:srgbClr val="F2F3F6"/>
                </a:solidFill>
                <a:latin typeface="Aptos"/>
              </a:defRPr>
            </a:pPr>
            <a:r>
              <a:t>• Sender &amp; receiver — String arrays</a:t>
            </a:r>
          </a:p>
          <a:p>
            <a:pPr>
              <a:spcAft>
                <a:spcPts val="500"/>
              </a:spcAft>
              <a:defRPr sz="1800" b="0">
                <a:solidFill>
                  <a:srgbClr val="F2F3F6"/>
                </a:solidFill>
                <a:latin typeface="Aptos"/>
              </a:defRPr>
            </a:pPr>
            <a:r>
              <a:t>• Weight — double array</a:t>
            </a:r>
          </a:p>
          <a:p>
            <a:pPr>
              <a:spcAft>
                <a:spcPts val="500"/>
              </a:spcAft>
              <a:defRPr sz="1800" b="0">
                <a:solidFill>
                  <a:srgbClr val="F2F3F6"/>
                </a:solidFill>
                <a:latin typeface="Aptos"/>
              </a:defRPr>
            </a:pPr>
            <a:r>
              <a:t>• Status — String array</a:t>
            </a:r>
          </a:p>
          <a:p>
            <a:pPr>
              <a:spcAft>
                <a:spcPts val="500"/>
              </a:spcAft>
              <a:defRPr sz="1800" b="0">
                <a:solidFill>
                  <a:srgbClr val="F2F3F6"/>
                </a:solidFill>
                <a:latin typeface="Aptos"/>
              </a:defRPr>
            </a:pPr>
            <a:r>
              <a:t>• Status flow: Pending → In Transit → Delivered</a:t>
            </a:r>
          </a:p>
        </p:txBody>
      </p:sp>
      <p:sp>
        <p:nvSpPr>
          <p:cNvPr id="8" name="TextBox 7"/>
          <p:cNvSpPr txBox="1"/>
          <p:nvPr/>
        </p:nvSpPr>
        <p:spPr>
          <a:xfrm>
            <a:off x="6309360" y="1554480"/>
            <a:ext cx="457200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ROUTE ARRAY</a:t>
            </a:r>
          </a:p>
        </p:txBody>
      </p:sp>
      <p:sp>
        <p:nvSpPr>
          <p:cNvPr id="9" name="TextBox 8"/>
          <p:cNvSpPr txBox="1"/>
          <p:nvPr/>
        </p:nvSpPr>
        <p:spPr>
          <a:xfrm>
            <a:off x="6309360" y="2057400"/>
            <a:ext cx="4663440" cy="256032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WAREHOUSE → STOP A → STOP B</a:t>
            </a:r>
          </a:p>
          <a:p>
            <a:pPr>
              <a:spcAft>
                <a:spcPts val="500"/>
              </a:spcAft>
              <a:defRPr sz="1800" b="0">
                <a:solidFill>
                  <a:srgbClr val="F2F3F6"/>
                </a:solidFill>
                <a:latin typeface="Aptos"/>
              </a:defRPr>
            </a:pPr>
            <a:r>
              <a:t>→ STOP C → CUSTOMER</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Loops process route positions.</a:t>
            </a:r>
          </a:p>
          <a:p>
            <a:pPr>
              <a:spcAft>
                <a:spcPts val="500"/>
              </a:spcAft>
              <a:defRPr sz="1800" b="0">
                <a:solidFill>
                  <a:srgbClr val="F2F3F6"/>
                </a:solidFill>
                <a:latin typeface="Aptos"/>
              </a:defRPr>
            </a:pPr>
            <a:r>
              <a:t>• Conditions track and update package status.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Project Development &amp; Tracking Flow</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How the system is developed and used</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6</a:t>
            </a:r>
          </a:p>
        </p:txBody>
      </p:sp>
      <p:sp>
        <p:nvSpPr>
          <p:cNvPr id="6" name="TextBox 5"/>
          <p:cNvSpPr txBox="1"/>
          <p:nvPr/>
        </p:nvSpPr>
        <p:spPr>
          <a:xfrm>
            <a:off x="777240" y="1600200"/>
            <a:ext cx="466344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DEVELOPMENT</a:t>
            </a:r>
          </a:p>
        </p:txBody>
      </p:sp>
      <p:sp>
        <p:nvSpPr>
          <p:cNvPr id="7" name="TextBox 6"/>
          <p:cNvSpPr txBox="1"/>
          <p:nvPr/>
        </p:nvSpPr>
        <p:spPr>
          <a:xfrm>
            <a:off x="822960" y="2057400"/>
            <a:ext cx="4663440" cy="292608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 Language: Java</a:t>
            </a:r>
          </a:p>
          <a:p>
            <a:pPr>
              <a:spcAft>
                <a:spcPts val="500"/>
              </a:spcAft>
              <a:defRPr sz="1800" b="0">
                <a:solidFill>
                  <a:srgbClr val="F2F3F6"/>
                </a:solidFill>
                <a:latin typeface="Aptos"/>
              </a:defRPr>
            </a:pPr>
            <a:r>
              <a:t>• Tool: Java IDE</a:t>
            </a:r>
          </a:p>
          <a:p>
            <a:pPr>
              <a:spcAft>
                <a:spcPts val="500"/>
              </a:spcAft>
              <a:defRPr sz="1800" b="0">
                <a:solidFill>
                  <a:srgbClr val="F2F3F6"/>
                </a:solidFill>
                <a:latin typeface="Aptos"/>
              </a:defRPr>
            </a:pPr>
            <a:r>
              <a:t>• Console-based menu</a:t>
            </a:r>
          </a:p>
          <a:p>
            <a:pPr>
              <a:spcAft>
                <a:spcPts val="500"/>
              </a:spcAft>
              <a:defRPr sz="1800" b="0">
                <a:solidFill>
                  <a:srgbClr val="F2F3F6"/>
                </a:solidFill>
                <a:latin typeface="Aptos"/>
              </a:defRPr>
            </a:pPr>
            <a:r>
              <a:t>• Arrays for package and route data</a:t>
            </a:r>
          </a:p>
          <a:p>
            <a:pPr>
              <a:spcAft>
                <a:spcPts val="500"/>
              </a:spcAft>
              <a:defRPr sz="1800" b="0">
                <a:solidFill>
                  <a:srgbClr val="F2F3F6"/>
                </a:solidFill>
                <a:latin typeface="Aptos"/>
              </a:defRPr>
            </a:pPr>
            <a:r>
              <a:t>• Loops, if-else and switch statements</a:t>
            </a:r>
          </a:p>
        </p:txBody>
      </p:sp>
      <p:sp>
        <p:nvSpPr>
          <p:cNvPr id="8" name="TextBox 7"/>
          <p:cNvSpPr txBox="1"/>
          <p:nvPr/>
        </p:nvSpPr>
        <p:spPr>
          <a:xfrm>
            <a:off x="6309360" y="1600200"/>
            <a:ext cx="466344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TRACKING FLOW</a:t>
            </a:r>
          </a:p>
        </p:txBody>
      </p:sp>
      <p:sp>
        <p:nvSpPr>
          <p:cNvPr id="9" name="TextBox 8"/>
          <p:cNvSpPr txBox="1"/>
          <p:nvPr/>
        </p:nvSpPr>
        <p:spPr>
          <a:xfrm>
            <a:off x="6355080" y="2057400"/>
            <a:ext cx="4663440" cy="3200400"/>
          </a:xfrm>
          <a:prstGeom prst="rect">
            <a:avLst/>
          </a:prstGeom>
          <a:noFill/>
        </p:spPr>
        <p:txBody>
          <a:bodyPr wrap="square" lIns="45720" rIns="45720" tIns="36576" bIns="27432">
            <a:spAutoFit/>
          </a:bodyPr>
          <a:lstStyle/>
          <a:p>
            <a:pPr>
              <a:spcAft>
                <a:spcPts val="500"/>
              </a:spcAft>
              <a:defRPr sz="1700" b="0">
                <a:solidFill>
                  <a:srgbClr val="F2F3F6"/>
                </a:solidFill>
                <a:latin typeface="Aptos"/>
              </a:defRPr>
            </a:pPr>
            <a:r>
              <a:t>• Order placed → Pending</a:t>
            </a:r>
          </a:p>
          <a:p>
            <a:pPr>
              <a:spcAft>
                <a:spcPts val="500"/>
              </a:spcAft>
              <a:defRPr sz="1700" b="0">
                <a:solidFill>
                  <a:srgbClr val="F2F3F6"/>
                </a:solidFill>
                <a:latin typeface="Aptos"/>
              </a:defRPr>
            </a:pPr>
          </a:p>
          <a:p>
            <a:pPr>
              <a:spcAft>
                <a:spcPts val="500"/>
              </a:spcAft>
              <a:defRPr sz="1700" b="0">
                <a:solidFill>
                  <a:srgbClr val="F2F3F6"/>
                </a:solidFill>
                <a:latin typeface="Aptos"/>
              </a:defRPr>
            </a:pPr>
            <a:r>
              <a:t>• Route created and stops organized</a:t>
            </a:r>
          </a:p>
          <a:p>
            <a:pPr>
              <a:spcAft>
                <a:spcPts val="500"/>
              </a:spcAft>
              <a:defRPr sz="1700" b="0">
                <a:solidFill>
                  <a:srgbClr val="F2F3F6"/>
                </a:solidFill>
                <a:latin typeface="Aptos"/>
              </a:defRPr>
            </a:pPr>
          </a:p>
          <a:p>
            <a:pPr>
              <a:spcAft>
                <a:spcPts val="500"/>
              </a:spcAft>
              <a:defRPr sz="1700" b="0">
                <a:solidFill>
                  <a:srgbClr val="F2F3F6"/>
                </a:solidFill>
                <a:latin typeface="Aptos"/>
              </a:defRPr>
            </a:pPr>
            <a:r>
              <a:t>• Courier scans package → In Transit</a:t>
            </a:r>
          </a:p>
          <a:p>
            <a:pPr>
              <a:spcAft>
                <a:spcPts val="500"/>
              </a:spcAft>
              <a:defRPr sz="1700" b="0">
                <a:solidFill>
                  <a:srgbClr val="F2F3F6"/>
                </a:solidFill>
                <a:latin typeface="Aptos"/>
              </a:defRPr>
            </a:pPr>
          </a:p>
          <a:p>
            <a:pPr>
              <a:spcAft>
                <a:spcPts val="500"/>
              </a:spcAft>
              <a:defRPr sz="1700" b="0">
                <a:solidFill>
                  <a:srgbClr val="F2F3F6"/>
                </a:solidFill>
                <a:latin typeface="Aptos"/>
              </a:defRPr>
            </a:pPr>
            <a:r>
              <a:t>• Package reaches customer → Delivered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Java Course Roadmap • CO1–CO3</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From problem solving to modular Java programs</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7</a:t>
            </a:r>
          </a:p>
        </p:txBody>
      </p:sp>
      <p:sp>
        <p:nvSpPr>
          <p:cNvPr id="6" name="Rounded Rectangle 5"/>
          <p:cNvSpPr/>
          <p:nvPr/>
        </p:nvSpPr>
        <p:spPr>
          <a:xfrm>
            <a:off x="685800"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64792"/>
            <a:ext cx="3246120" cy="274320"/>
          </a:xfrm>
          <a:prstGeom prst="rect">
            <a:avLst/>
          </a:prstGeom>
          <a:noFill/>
        </p:spPr>
        <p:txBody>
          <a:bodyPr wrap="square" lIns="45720" rIns="45720" tIns="36576" bIns="27432">
            <a:spAutoFit/>
          </a:bodyPr>
          <a:lstStyle/>
          <a:p>
            <a:pPr>
              <a:spcAft>
                <a:spcPts val="500"/>
              </a:spcAft>
              <a:defRPr sz="1300" b="1">
                <a:solidFill>
                  <a:srgbClr val="F5BE2B"/>
                </a:solidFill>
                <a:latin typeface="Aptos"/>
              </a:defRPr>
            </a:pPr>
            <a:r>
              <a:t>MODULE 1</a:t>
            </a:r>
          </a:p>
        </p:txBody>
      </p:sp>
      <p:sp>
        <p:nvSpPr>
          <p:cNvPr id="9" name="TextBox 8"/>
          <p:cNvSpPr txBox="1"/>
          <p:nvPr/>
        </p:nvSpPr>
        <p:spPr>
          <a:xfrm>
            <a:off x="886968" y="2167128"/>
            <a:ext cx="3246120" cy="502920"/>
          </a:xfrm>
          <a:prstGeom prst="rect">
            <a:avLst/>
          </a:prstGeom>
          <a:noFill/>
        </p:spPr>
        <p:txBody>
          <a:bodyPr wrap="square" lIns="45720" rIns="45720" tIns="36576" bIns="27432">
            <a:spAutoFit/>
          </a:bodyPr>
          <a:lstStyle/>
          <a:p>
            <a:pPr>
              <a:spcAft>
                <a:spcPts val="500"/>
              </a:spcAft>
              <a:defRPr sz="1400" b="1">
                <a:solidFill>
                  <a:srgbClr val="F2F3F6"/>
                </a:solidFill>
                <a:latin typeface="Aptos"/>
              </a:defRPr>
            </a:pPr>
            <a:r>
              <a:t>JAVA FOUNDATIONS</a:t>
            </a:r>
          </a:p>
        </p:txBody>
      </p:sp>
      <p:sp>
        <p:nvSpPr>
          <p:cNvPr id="10" name="TextBox 9"/>
          <p:cNvSpPr txBox="1"/>
          <p:nvPr/>
        </p:nvSpPr>
        <p:spPr>
          <a:xfrm>
            <a:off x="886968" y="2834639"/>
            <a:ext cx="3227832" cy="3017520"/>
          </a:xfrm>
          <a:prstGeom prst="rect">
            <a:avLst/>
          </a:prstGeom>
          <a:noFill/>
        </p:spPr>
        <p:txBody>
          <a:bodyPr wrap="square" lIns="45720" rIns="45720" tIns="36576" bIns="27432">
            <a:spAutoFit/>
          </a:bodyPr>
          <a:lstStyle/>
          <a:p>
            <a:pPr>
              <a:spcAft>
                <a:spcPts val="500"/>
              </a:spcAft>
              <a:defRPr sz="1200" b="0">
                <a:solidFill>
                  <a:srgbClr val="F2F3F6"/>
                </a:solidFill>
                <a:latin typeface="Aptos"/>
              </a:defRPr>
            </a:pPr>
            <a:r>
              <a:t>Problem-solving, algorithms and flowcharts.</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Java environment and program structure.</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Primitive types, variables, constants, identifiers and literals.</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Operators, type casting, precedence and associativity.</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Formatted output and Scanner input.</a:t>
            </a:r>
          </a:p>
        </p:txBody>
      </p:sp>
      <p:sp>
        <p:nvSpPr>
          <p:cNvPr id="11" name="Rounded Rectangle 10"/>
          <p:cNvSpPr/>
          <p:nvPr/>
        </p:nvSpPr>
        <p:spPr>
          <a:xfrm>
            <a:off x="4498848"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98848"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0016" y="1764792"/>
            <a:ext cx="3246120" cy="274320"/>
          </a:xfrm>
          <a:prstGeom prst="rect">
            <a:avLst/>
          </a:prstGeom>
          <a:noFill/>
        </p:spPr>
        <p:txBody>
          <a:bodyPr wrap="square" lIns="45720" rIns="45720" tIns="36576" bIns="27432">
            <a:spAutoFit/>
          </a:bodyPr>
          <a:lstStyle/>
          <a:p>
            <a:pPr>
              <a:spcAft>
                <a:spcPts val="500"/>
              </a:spcAft>
              <a:defRPr sz="1300" b="1">
                <a:solidFill>
                  <a:srgbClr val="F5BE2B"/>
                </a:solidFill>
                <a:latin typeface="Aptos"/>
              </a:defRPr>
            </a:pPr>
            <a:r>
              <a:t>MODULE 2</a:t>
            </a:r>
          </a:p>
        </p:txBody>
      </p:sp>
      <p:sp>
        <p:nvSpPr>
          <p:cNvPr id="14" name="TextBox 13"/>
          <p:cNvSpPr txBox="1"/>
          <p:nvPr/>
        </p:nvSpPr>
        <p:spPr>
          <a:xfrm>
            <a:off x="4700016" y="2167128"/>
            <a:ext cx="3246120" cy="502920"/>
          </a:xfrm>
          <a:prstGeom prst="rect">
            <a:avLst/>
          </a:prstGeom>
          <a:noFill/>
        </p:spPr>
        <p:txBody>
          <a:bodyPr wrap="square" lIns="45720" rIns="45720" tIns="36576" bIns="27432">
            <a:spAutoFit/>
          </a:bodyPr>
          <a:lstStyle/>
          <a:p>
            <a:pPr>
              <a:spcAft>
                <a:spcPts val="500"/>
              </a:spcAft>
              <a:defRPr sz="1400" b="1">
                <a:solidFill>
                  <a:srgbClr val="F2F3F6"/>
                </a:solidFill>
                <a:latin typeface="Aptos"/>
              </a:defRPr>
            </a:pPr>
            <a:r>
              <a:t>CONTROL FLOW</a:t>
            </a:r>
          </a:p>
        </p:txBody>
      </p:sp>
      <p:sp>
        <p:nvSpPr>
          <p:cNvPr id="15" name="TextBox 14"/>
          <p:cNvSpPr txBox="1"/>
          <p:nvPr/>
        </p:nvSpPr>
        <p:spPr>
          <a:xfrm>
            <a:off x="4700016" y="2834639"/>
            <a:ext cx="3227832" cy="3017520"/>
          </a:xfrm>
          <a:prstGeom prst="rect">
            <a:avLst/>
          </a:prstGeom>
          <a:noFill/>
        </p:spPr>
        <p:txBody>
          <a:bodyPr wrap="square" lIns="45720" rIns="45720" tIns="36576" bIns="27432">
            <a:spAutoFit/>
          </a:bodyPr>
          <a:lstStyle/>
          <a:p>
            <a:pPr>
              <a:spcAft>
                <a:spcPts val="500"/>
              </a:spcAft>
              <a:defRPr sz="1200" b="0">
                <a:solidFill>
                  <a:srgbClr val="F2F3F6"/>
                </a:solidFill>
                <a:latin typeface="Aptos"/>
              </a:defRPr>
            </a:pPr>
            <a:r>
              <a:t>if, if-else, nested if and else-if ladder.</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switch, default and break.</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while, do-while and for loops.</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continue, nested loops and compound statements.</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Infinite-loop awareness.</a:t>
            </a:r>
          </a:p>
        </p:txBody>
      </p:sp>
      <p:sp>
        <p:nvSpPr>
          <p:cNvPr id="16" name="Rounded Rectangle 15"/>
          <p:cNvSpPr/>
          <p:nvPr/>
        </p:nvSpPr>
        <p:spPr>
          <a:xfrm>
            <a:off x="8311896" y="1508760"/>
            <a:ext cx="320040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11896"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13064" y="1764792"/>
            <a:ext cx="2834640" cy="274320"/>
          </a:xfrm>
          <a:prstGeom prst="rect">
            <a:avLst/>
          </a:prstGeom>
          <a:noFill/>
        </p:spPr>
        <p:txBody>
          <a:bodyPr wrap="square" lIns="45720" rIns="45720" tIns="36576" bIns="27432">
            <a:spAutoFit/>
          </a:bodyPr>
          <a:lstStyle/>
          <a:p>
            <a:pPr>
              <a:spcAft>
                <a:spcPts val="500"/>
              </a:spcAft>
              <a:defRPr sz="1300" b="1">
                <a:solidFill>
                  <a:srgbClr val="F5BE2B"/>
                </a:solidFill>
                <a:latin typeface="Aptos"/>
              </a:defRPr>
            </a:pPr>
            <a:r>
              <a:t>MODULE 3</a:t>
            </a:r>
          </a:p>
        </p:txBody>
      </p:sp>
      <p:sp>
        <p:nvSpPr>
          <p:cNvPr id="19" name="TextBox 18"/>
          <p:cNvSpPr txBox="1"/>
          <p:nvPr/>
        </p:nvSpPr>
        <p:spPr>
          <a:xfrm>
            <a:off x="8513064" y="2167128"/>
            <a:ext cx="2834640" cy="502920"/>
          </a:xfrm>
          <a:prstGeom prst="rect">
            <a:avLst/>
          </a:prstGeom>
          <a:noFill/>
        </p:spPr>
        <p:txBody>
          <a:bodyPr wrap="square" lIns="45720" rIns="45720" tIns="36576" bIns="27432">
            <a:spAutoFit/>
          </a:bodyPr>
          <a:lstStyle/>
          <a:p>
            <a:pPr>
              <a:spcAft>
                <a:spcPts val="500"/>
              </a:spcAft>
              <a:defRPr sz="1400" b="1">
                <a:solidFill>
                  <a:srgbClr val="F2F3F6"/>
                </a:solidFill>
                <a:latin typeface="Aptos"/>
              </a:defRPr>
            </a:pPr>
            <a:r>
              <a:t>METHODS, RECURSION &amp; ARRAYS</a:t>
            </a:r>
          </a:p>
        </p:txBody>
      </p:sp>
      <p:sp>
        <p:nvSpPr>
          <p:cNvPr id="20" name="TextBox 19"/>
          <p:cNvSpPr txBox="1"/>
          <p:nvPr/>
        </p:nvSpPr>
        <p:spPr>
          <a:xfrm>
            <a:off x="8513064" y="2834639"/>
            <a:ext cx="2816352" cy="3017520"/>
          </a:xfrm>
          <a:prstGeom prst="rect">
            <a:avLst/>
          </a:prstGeom>
          <a:noFill/>
        </p:spPr>
        <p:txBody>
          <a:bodyPr wrap="square" lIns="45720" rIns="45720" tIns="36576" bIns="27432">
            <a:spAutoFit/>
          </a:bodyPr>
          <a:lstStyle/>
          <a:p>
            <a:pPr>
              <a:spcAft>
                <a:spcPts val="500"/>
              </a:spcAft>
              <a:defRPr sz="1200" b="0">
                <a:solidFill>
                  <a:srgbClr val="F2F3F6"/>
                </a:solidFill>
                <a:latin typeface="Aptos"/>
              </a:defRPr>
            </a:pPr>
            <a:r>
              <a:t>Modular programming and methods.</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Parameters, return values and method overloading.</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Recursion: base and recursive cases.</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Enhanced for loop.</a:t>
            </a:r>
          </a:p>
          <a:p>
            <a:pPr>
              <a:spcAft>
                <a:spcPts val="500"/>
              </a:spcAft>
              <a:defRPr sz="1200" b="0">
                <a:solidFill>
                  <a:srgbClr val="F2F3F6"/>
                </a:solidFill>
                <a:latin typeface="Aptos"/>
              </a:defRPr>
            </a:pPr>
          </a:p>
          <a:p>
            <a:pPr>
              <a:spcAft>
                <a:spcPts val="500"/>
              </a:spcAft>
              <a:defRPr sz="1200" b="0">
                <a:solidFill>
                  <a:srgbClr val="F2F3F6"/>
                </a:solidFill>
                <a:latin typeface="Aptos"/>
              </a:defRPr>
            </a:pPr>
            <a:r>
              <a:t>1D/2D arrays, traversal, searching, sums, averages, counting and matrix arithmetic.</a:t>
            </a:r>
          </a:p>
        </p:txBody>
      </p:sp>
      <p:sp>
        <p:nvSpPr>
          <p:cNvPr id="21" name="Rounded Rectangle 20"/>
          <p:cNvSpPr/>
          <p:nvPr/>
        </p:nvSpPr>
        <p:spPr>
          <a:xfrm>
            <a:off x="685800" y="6199632"/>
            <a:ext cx="10835640" cy="256032"/>
          </a:xfrm>
          <a:prstGeom prst="roundRect">
            <a:avLst/>
          </a:prstGeom>
          <a:solidFill>
            <a:srgbClr val="4A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6199632"/>
            <a:ext cx="10424160" cy="219456"/>
          </a:xfrm>
          <a:prstGeom prst="rect">
            <a:avLst/>
          </a:prstGeom>
          <a:noFill/>
        </p:spPr>
        <p:txBody>
          <a:bodyPr wrap="square" lIns="45720" rIns="45720" tIns="36576" bIns="27432">
            <a:spAutoFit/>
          </a:bodyPr>
          <a:lstStyle/>
          <a:p>
            <a:pPr>
              <a:spcAft>
                <a:spcPts val="500"/>
              </a:spcAft>
              <a:defRPr sz="1000" b="1">
                <a:solidFill>
                  <a:srgbClr val="F2F3F6"/>
                </a:solidFill>
                <a:latin typeface="Aptos"/>
              </a:defRPr>
            </a:pPr>
            <a:r>
              <a:t>PROJECT LINK: Arrays store package details; conditions and methods manage delivery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Java Course Roadmap • CO4–CO6</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From object-oriented design to file handling, collections and functional Java</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8</a:t>
            </a:r>
          </a:p>
        </p:txBody>
      </p:sp>
      <p:sp>
        <p:nvSpPr>
          <p:cNvPr id="6" name="Rounded Rectangle 5"/>
          <p:cNvSpPr/>
          <p:nvPr/>
        </p:nvSpPr>
        <p:spPr>
          <a:xfrm>
            <a:off x="685800"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64792"/>
            <a:ext cx="3246120" cy="274320"/>
          </a:xfrm>
          <a:prstGeom prst="rect">
            <a:avLst/>
          </a:prstGeom>
          <a:noFill/>
        </p:spPr>
        <p:txBody>
          <a:bodyPr wrap="square" lIns="45720" rIns="45720" tIns="36576" bIns="27432">
            <a:spAutoFit/>
          </a:bodyPr>
          <a:lstStyle/>
          <a:p>
            <a:pPr>
              <a:spcAft>
                <a:spcPts val="500"/>
              </a:spcAft>
              <a:defRPr sz="1300" b="1">
                <a:solidFill>
                  <a:srgbClr val="F5BE2B"/>
                </a:solidFill>
                <a:latin typeface="Aptos"/>
              </a:defRPr>
            </a:pPr>
            <a:r>
              <a:t>MODULE 4</a:t>
            </a:r>
          </a:p>
        </p:txBody>
      </p:sp>
      <p:sp>
        <p:nvSpPr>
          <p:cNvPr id="9" name="TextBox 8"/>
          <p:cNvSpPr txBox="1"/>
          <p:nvPr/>
        </p:nvSpPr>
        <p:spPr>
          <a:xfrm>
            <a:off x="886968" y="2167128"/>
            <a:ext cx="3246120" cy="749808"/>
          </a:xfrm>
          <a:prstGeom prst="rect">
            <a:avLst/>
          </a:prstGeom>
          <a:noFill/>
        </p:spPr>
        <p:txBody>
          <a:bodyPr wrap="square" lIns="45720" rIns="45720" tIns="36576" bIns="27432">
            <a:spAutoFit/>
          </a:bodyPr>
          <a:lstStyle/>
          <a:p>
            <a:pPr>
              <a:spcAft>
                <a:spcPts val="500"/>
              </a:spcAft>
              <a:defRPr sz="1200" b="1">
                <a:solidFill>
                  <a:srgbClr val="F2F3F6"/>
                </a:solidFill>
                <a:latin typeface="Aptos"/>
              </a:defRPr>
            </a:pPr>
            <a:r>
              <a:t>OBJECT-ORIENTED MODELLING &amp; EXCEPTION HANDLING</a:t>
            </a:r>
          </a:p>
        </p:txBody>
      </p:sp>
      <p:sp>
        <p:nvSpPr>
          <p:cNvPr id="10" name="TextBox 9"/>
          <p:cNvSpPr txBox="1"/>
          <p:nvPr/>
        </p:nvSpPr>
        <p:spPr>
          <a:xfrm>
            <a:off x="886968" y="3017520"/>
            <a:ext cx="3227832" cy="2834640"/>
          </a:xfrm>
          <a:prstGeom prst="rect">
            <a:avLst/>
          </a:prstGeom>
          <a:noFill/>
        </p:spPr>
        <p:txBody>
          <a:bodyPr wrap="square" lIns="45720" rIns="45720" tIns="36576" bIns="27432">
            <a:spAutoFit/>
          </a:bodyPr>
          <a:lstStyle/>
          <a:p>
            <a:pPr>
              <a:spcAft>
                <a:spcPts val="500"/>
              </a:spcAft>
              <a:defRPr sz="1100" b="0">
                <a:solidFill>
                  <a:srgbClr val="F2F3F6"/>
                </a:solidFill>
                <a:latin typeface="Aptos"/>
              </a:defRPr>
            </a:pPr>
            <a:r>
              <a:t>Classes and objects: fields, methods, new, references and null.</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Constructors: default, parameterized, overloading and this.</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Encapsulation: private fields, getters/setters, static members, constants and toString().</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Inheritance, is-a relationships, interfaces and overriding.</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Exceptions: checked/unchecked, try-catch-finally, multi-catch, throw and throws.</a:t>
            </a:r>
          </a:p>
        </p:txBody>
      </p:sp>
      <p:sp>
        <p:nvSpPr>
          <p:cNvPr id="11" name="Rounded Rectangle 10"/>
          <p:cNvSpPr/>
          <p:nvPr/>
        </p:nvSpPr>
        <p:spPr>
          <a:xfrm>
            <a:off x="4498848"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98848"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0016" y="1764792"/>
            <a:ext cx="3246120" cy="274320"/>
          </a:xfrm>
          <a:prstGeom prst="rect">
            <a:avLst/>
          </a:prstGeom>
          <a:noFill/>
        </p:spPr>
        <p:txBody>
          <a:bodyPr wrap="square" lIns="45720" rIns="45720" tIns="36576" bIns="27432">
            <a:spAutoFit/>
          </a:bodyPr>
          <a:lstStyle/>
          <a:p>
            <a:pPr>
              <a:spcAft>
                <a:spcPts val="500"/>
              </a:spcAft>
              <a:defRPr sz="1300" b="1">
                <a:solidFill>
                  <a:srgbClr val="F5BE2B"/>
                </a:solidFill>
                <a:latin typeface="Aptos"/>
              </a:defRPr>
            </a:pPr>
            <a:r>
              <a:t>MODULE 5</a:t>
            </a:r>
          </a:p>
        </p:txBody>
      </p:sp>
      <p:sp>
        <p:nvSpPr>
          <p:cNvPr id="14" name="TextBox 13"/>
          <p:cNvSpPr txBox="1"/>
          <p:nvPr/>
        </p:nvSpPr>
        <p:spPr>
          <a:xfrm>
            <a:off x="4700016" y="2167128"/>
            <a:ext cx="3246120" cy="749808"/>
          </a:xfrm>
          <a:prstGeom prst="rect">
            <a:avLst/>
          </a:prstGeom>
          <a:noFill/>
        </p:spPr>
        <p:txBody>
          <a:bodyPr wrap="square" lIns="45720" rIns="45720" tIns="36576" bIns="27432">
            <a:spAutoFit/>
          </a:bodyPr>
          <a:lstStyle/>
          <a:p>
            <a:pPr>
              <a:spcAft>
                <a:spcPts val="500"/>
              </a:spcAft>
              <a:defRPr sz="1200" b="1">
                <a:solidFill>
                  <a:srgbClr val="F2F3F6"/>
                </a:solidFill>
                <a:latin typeface="Aptos"/>
              </a:defRPr>
            </a:pPr>
            <a:r>
              <a:t>STRINGS, LIBRARY ALGORITHMS &amp; FILE I/O</a:t>
            </a:r>
          </a:p>
        </p:txBody>
      </p:sp>
      <p:sp>
        <p:nvSpPr>
          <p:cNvPr id="15" name="TextBox 14"/>
          <p:cNvSpPr txBox="1"/>
          <p:nvPr/>
        </p:nvSpPr>
        <p:spPr>
          <a:xfrm>
            <a:off x="4700016" y="3017520"/>
            <a:ext cx="3227832" cy="2834640"/>
          </a:xfrm>
          <a:prstGeom prst="rect">
            <a:avLst/>
          </a:prstGeom>
          <a:noFill/>
        </p:spPr>
        <p:txBody>
          <a:bodyPr wrap="square" lIns="45720" rIns="45720" tIns="36576" bIns="27432">
            <a:spAutoFit/>
          </a:bodyPr>
          <a:lstStyle/>
          <a:p>
            <a:pPr>
              <a:spcAft>
                <a:spcPts val="500"/>
              </a:spcAft>
              <a:defRPr sz="1100" b="0">
                <a:solidFill>
                  <a:srgbClr val="F2F3F6"/>
                </a:solidFill>
                <a:latin typeface="Aptos"/>
              </a:defRPr>
            </a:pPr>
            <a:r>
              <a:t>String operations: length, indexing, substring, concatenation, comparison and searching.</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equals() vs ==; StringBuilder/StringBuffer; split(), join(), trimming and validation.</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Searching and sorting with Arrays and Collections; Comparable and Comparator.</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Read/write text files with Path, Files and buffered readers/writers.</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Try-with-resources; handle missing files and malformed data.</a:t>
            </a:r>
          </a:p>
        </p:txBody>
      </p:sp>
      <p:sp>
        <p:nvSpPr>
          <p:cNvPr id="16" name="Rounded Rectangle 15"/>
          <p:cNvSpPr/>
          <p:nvPr/>
        </p:nvSpPr>
        <p:spPr>
          <a:xfrm>
            <a:off x="8311896" y="1508760"/>
            <a:ext cx="320040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11896"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13064" y="1764792"/>
            <a:ext cx="2834640" cy="274320"/>
          </a:xfrm>
          <a:prstGeom prst="rect">
            <a:avLst/>
          </a:prstGeom>
          <a:noFill/>
        </p:spPr>
        <p:txBody>
          <a:bodyPr wrap="square" lIns="45720" rIns="45720" tIns="36576" bIns="27432">
            <a:spAutoFit/>
          </a:bodyPr>
          <a:lstStyle/>
          <a:p>
            <a:pPr>
              <a:spcAft>
                <a:spcPts val="500"/>
              </a:spcAft>
              <a:defRPr sz="1300" b="1">
                <a:solidFill>
                  <a:srgbClr val="F5BE2B"/>
                </a:solidFill>
                <a:latin typeface="Aptos"/>
              </a:defRPr>
            </a:pPr>
            <a:r>
              <a:t>MODULE 6</a:t>
            </a:r>
          </a:p>
        </p:txBody>
      </p:sp>
      <p:sp>
        <p:nvSpPr>
          <p:cNvPr id="19" name="TextBox 18"/>
          <p:cNvSpPr txBox="1"/>
          <p:nvPr/>
        </p:nvSpPr>
        <p:spPr>
          <a:xfrm>
            <a:off x="8513064" y="2167128"/>
            <a:ext cx="2834640" cy="749808"/>
          </a:xfrm>
          <a:prstGeom prst="rect">
            <a:avLst/>
          </a:prstGeom>
          <a:noFill/>
        </p:spPr>
        <p:txBody>
          <a:bodyPr wrap="square" lIns="45720" rIns="45720" tIns="36576" bIns="27432">
            <a:spAutoFit/>
          </a:bodyPr>
          <a:lstStyle/>
          <a:p>
            <a:pPr>
              <a:spcAft>
                <a:spcPts val="500"/>
              </a:spcAft>
              <a:defRPr sz="1200" b="1">
                <a:solidFill>
                  <a:srgbClr val="F2F3F6"/>
                </a:solidFill>
                <a:latin typeface="Aptos"/>
              </a:defRPr>
            </a:pPr>
            <a:r>
              <a:t>COLLECTIONS, LAMBDAS &amp; STREAMS</a:t>
            </a:r>
          </a:p>
        </p:txBody>
      </p:sp>
      <p:sp>
        <p:nvSpPr>
          <p:cNvPr id="20" name="TextBox 19"/>
          <p:cNvSpPr txBox="1"/>
          <p:nvPr/>
        </p:nvSpPr>
        <p:spPr>
          <a:xfrm>
            <a:off x="8513064" y="3017520"/>
            <a:ext cx="2816352" cy="2834640"/>
          </a:xfrm>
          <a:prstGeom prst="rect">
            <a:avLst/>
          </a:prstGeom>
          <a:noFill/>
        </p:spPr>
        <p:txBody>
          <a:bodyPr wrap="square" lIns="45720" rIns="45720" tIns="36576" bIns="27432">
            <a:spAutoFit/>
          </a:bodyPr>
          <a:lstStyle/>
          <a:p>
            <a:pPr>
              <a:spcAft>
                <a:spcPts val="500"/>
              </a:spcAft>
              <a:defRPr sz="1100" b="0">
                <a:solidFill>
                  <a:srgbClr val="F2F3F6"/>
                </a:solidFill>
                <a:latin typeface="Aptos"/>
              </a:defRPr>
            </a:pPr>
            <a:r>
              <a:t>List, Set and Map using ArrayList, HashSet, HashMap and ordered collections.</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Generics, type safety, autoboxing, for-each loops and iterators.</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Functional interfaces and lambdas: Predicate, Function, Consumer, Supplier and Comparator.</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Streams: filter, map, sorted, distinct, limit, forEach, collect, count and reduce.</a:t>
            </a:r>
          </a:p>
          <a:p>
            <a:pPr>
              <a:spcAft>
                <a:spcPts val="500"/>
              </a:spcAft>
              <a:defRPr sz="1100" b="0">
                <a:solidFill>
                  <a:srgbClr val="F2F3F6"/>
                </a:solidFill>
                <a:latin typeface="Aptos"/>
              </a:defRPr>
            </a:pPr>
          </a:p>
          <a:p>
            <a:pPr>
              <a:spcAft>
                <a:spcPts val="500"/>
              </a:spcAft>
              <a:defRPr sz="1100" b="0">
                <a:solidFill>
                  <a:srgbClr val="F2F3F6"/>
                </a:solidFill>
                <a:latin typeface="Aptos"/>
              </a:defRPr>
            </a:pPr>
            <a:r>
              <a:t>Collectors: toList, groupingBy, counting, joining and file-line streams.</a:t>
            </a:r>
          </a:p>
        </p:txBody>
      </p:sp>
      <p:sp>
        <p:nvSpPr>
          <p:cNvPr id="21" name="Rounded Rectangle 20"/>
          <p:cNvSpPr/>
          <p:nvPr/>
        </p:nvSpPr>
        <p:spPr>
          <a:xfrm>
            <a:off x="685800" y="6199632"/>
            <a:ext cx="10835640" cy="256032"/>
          </a:xfrm>
          <a:prstGeom prst="roundRect">
            <a:avLst/>
          </a:prstGeom>
          <a:solidFill>
            <a:srgbClr val="4A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6199632"/>
            <a:ext cx="10424160" cy="219456"/>
          </a:xfrm>
          <a:prstGeom prst="rect">
            <a:avLst/>
          </a:prstGeom>
          <a:noFill/>
        </p:spPr>
        <p:txBody>
          <a:bodyPr wrap="square" lIns="45720" rIns="45720" tIns="36576" bIns="27432">
            <a:spAutoFit/>
          </a:bodyPr>
          <a:lstStyle/>
          <a:p>
            <a:pPr>
              <a:spcAft>
                <a:spcPts val="500"/>
              </a:spcAft>
              <a:defRPr sz="1000" b="1">
                <a:solidFill>
                  <a:srgbClr val="F2F3F6"/>
                </a:solidFill>
                <a:latin typeface="Aptos"/>
              </a:defRPr>
            </a:pPr>
            <a:r>
              <a:t>PROJECT LINK: Model packages as objects, save records to files, and use collections/streams for tracking reports.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Advantages &amp; Limitations</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Current system capabilities</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9</a:t>
            </a:r>
          </a:p>
        </p:txBody>
      </p:sp>
      <p:sp>
        <p:nvSpPr>
          <p:cNvPr id="6" name="TextBox 5"/>
          <p:cNvSpPr txBox="1"/>
          <p:nvPr/>
        </p:nvSpPr>
        <p:spPr>
          <a:xfrm>
            <a:off x="777240" y="1600200"/>
            <a:ext cx="4663440" cy="320040"/>
          </a:xfrm>
          <a:prstGeom prst="rect">
            <a:avLst/>
          </a:prstGeom>
          <a:noFill/>
        </p:spPr>
        <p:txBody>
          <a:bodyPr wrap="square" lIns="45720" rIns="45720" tIns="36576" bIns="27432">
            <a:spAutoFit/>
          </a:bodyPr>
          <a:lstStyle/>
          <a:p>
            <a:pPr>
              <a:spcAft>
                <a:spcPts val="500"/>
              </a:spcAft>
              <a:defRPr sz="1600" b="1">
                <a:solidFill>
                  <a:srgbClr val="49BE89"/>
                </a:solidFill>
                <a:latin typeface="Aptos"/>
              </a:defRPr>
            </a:pPr>
            <a:r>
              <a:t>ADVANTAGES</a:t>
            </a:r>
          </a:p>
        </p:txBody>
      </p:sp>
      <p:sp>
        <p:nvSpPr>
          <p:cNvPr id="7" name="TextBox 6"/>
          <p:cNvSpPr txBox="1"/>
          <p:nvPr/>
        </p:nvSpPr>
        <p:spPr>
          <a:xfrm>
            <a:off x="822960" y="2057400"/>
            <a:ext cx="4754880" cy="338328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 Easy package management.</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Easy status updates.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User-friendly menu.</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Demonstrates Java concepts.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Simple route organization.</a:t>
            </a:r>
          </a:p>
        </p:txBody>
      </p:sp>
      <p:sp>
        <p:nvSpPr>
          <p:cNvPr id="8" name="TextBox 7"/>
          <p:cNvSpPr txBox="1"/>
          <p:nvPr/>
        </p:nvSpPr>
        <p:spPr>
          <a:xfrm>
            <a:off x="6309360" y="1600200"/>
            <a:ext cx="4663440" cy="320040"/>
          </a:xfrm>
          <a:prstGeom prst="rect">
            <a:avLst/>
          </a:prstGeom>
          <a:noFill/>
        </p:spPr>
        <p:txBody>
          <a:bodyPr wrap="square" lIns="45720" rIns="45720" tIns="36576" bIns="27432">
            <a:spAutoFit/>
          </a:bodyPr>
          <a:lstStyle/>
          <a:p>
            <a:pPr>
              <a:spcAft>
                <a:spcPts val="500"/>
              </a:spcAft>
              <a:defRPr sz="1600" b="1">
                <a:solidFill>
                  <a:srgbClr val="DE6871"/>
                </a:solidFill>
                <a:latin typeface="Aptos"/>
              </a:defRPr>
            </a:pPr>
            <a:r>
              <a:t>LIMITATIONS</a:t>
            </a:r>
          </a:p>
        </p:txBody>
      </p:sp>
      <p:sp>
        <p:nvSpPr>
          <p:cNvPr id="9" name="TextBox 8"/>
          <p:cNvSpPr txBox="1"/>
          <p:nvPr/>
        </p:nvSpPr>
        <p:spPr>
          <a:xfrm>
            <a:off x="6355080" y="2057400"/>
            <a:ext cx="4663440" cy="3383280"/>
          </a:xfrm>
          <a:prstGeom prst="rect">
            <a:avLst/>
          </a:prstGeom>
          <a:noFill/>
        </p:spPr>
        <p:txBody>
          <a:bodyPr wrap="square" lIns="45720" rIns="45720" tIns="36576" bIns="27432">
            <a:spAutoFit/>
          </a:bodyPr>
          <a:lstStyle/>
          <a:p>
            <a:pPr>
              <a:spcAft>
                <a:spcPts val="500"/>
              </a:spcAft>
              <a:defRPr sz="1800" b="0">
                <a:solidFill>
                  <a:srgbClr val="F2F3F6"/>
                </a:solidFill>
                <a:latin typeface="Aptos"/>
              </a:defRPr>
            </a:pPr>
            <a:r>
              <a:t>• No real-time GPS.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No database connectivity.</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Fixed array size.</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Manual status updates.</a:t>
            </a:r>
          </a:p>
          <a:p>
            <a:pPr>
              <a:spcAft>
                <a:spcPts val="500"/>
              </a:spcAft>
              <a:defRPr sz="1800" b="0">
                <a:solidFill>
                  <a:srgbClr val="F2F3F6"/>
                </a:solidFill>
                <a:latin typeface="Aptos"/>
              </a:defRPr>
            </a:pPr>
          </a:p>
          <a:p>
            <a:pPr>
              <a:spcAft>
                <a:spcPts val="500"/>
              </a:spcAft>
              <a:defRPr sz="1800" b="0">
                <a:solidFill>
                  <a:srgbClr val="F2F3F6"/>
                </a:solidFill>
                <a:latin typeface="Aptos"/>
              </a:defRPr>
            </a:pPr>
            <a:r>
              <a:t>• Limited route optimization.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Conclusion</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A simple Java solution for a real-world logistics problem</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10</a:t>
            </a:r>
          </a:p>
        </p:txBody>
      </p:sp>
      <p:sp>
        <p:nvSpPr>
          <p:cNvPr id="6" name="TextBox 5"/>
          <p:cNvSpPr txBox="1"/>
          <p:nvPr/>
        </p:nvSpPr>
        <p:spPr>
          <a:xfrm>
            <a:off x="777240" y="1691640"/>
            <a:ext cx="10424160" cy="1600200"/>
          </a:xfrm>
          <a:prstGeom prst="rect">
            <a:avLst/>
          </a:prstGeom>
          <a:noFill/>
        </p:spPr>
        <p:txBody>
          <a:bodyPr wrap="square" lIns="45720" rIns="45720" tIns="36576" bIns="27432">
            <a:spAutoFit/>
          </a:bodyPr>
          <a:lstStyle/>
          <a:p>
            <a:pPr>
              <a:spcAft>
                <a:spcPts val="500"/>
              </a:spcAft>
              <a:defRPr sz="2000" b="0">
                <a:solidFill>
                  <a:srgbClr val="F2F3F6"/>
                </a:solidFill>
                <a:latin typeface="Aptos"/>
              </a:defRPr>
            </a:pPr>
            <a:r>
              <a:t>The Courier Delivery Route and Tracking System provides an organized way to manage courier details, delivery routes and package status. It demonstrates how Java programming concepts can be applied to a practical logistics problem, from core syntax and control flow to object-oriented design, file handling, collections and stream-based processing.</a:t>
            </a:r>
          </a:p>
        </p:txBody>
      </p:sp>
      <p:sp>
        <p:nvSpPr>
          <p:cNvPr id="7" name="Rounded Rectangle 6"/>
          <p:cNvSpPr/>
          <p:nvPr/>
        </p:nvSpPr>
        <p:spPr>
          <a:xfrm>
            <a:off x="777240" y="3703320"/>
            <a:ext cx="10469880" cy="128016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977639"/>
            <a:ext cx="1828800" cy="274320"/>
          </a:xfrm>
          <a:prstGeom prst="rect">
            <a:avLst/>
          </a:prstGeom>
          <a:noFill/>
        </p:spPr>
        <p:txBody>
          <a:bodyPr wrap="square" lIns="45720" rIns="45720" tIns="36576" bIns="27432">
            <a:spAutoFit/>
          </a:bodyPr>
          <a:lstStyle/>
          <a:p>
            <a:pPr>
              <a:spcAft>
                <a:spcPts val="500"/>
              </a:spcAft>
              <a:defRPr sz="1400" b="1">
                <a:solidFill>
                  <a:srgbClr val="F5BE2B"/>
                </a:solidFill>
                <a:latin typeface="Aptos"/>
              </a:defRPr>
            </a:pPr>
            <a:r>
              <a:t>FUTURE SCOPE</a:t>
            </a:r>
          </a:p>
        </p:txBody>
      </p:sp>
      <p:sp>
        <p:nvSpPr>
          <p:cNvPr id="9" name="TextBox 8"/>
          <p:cNvSpPr txBox="1"/>
          <p:nvPr/>
        </p:nvSpPr>
        <p:spPr>
          <a:xfrm>
            <a:off x="2743200" y="3886200"/>
            <a:ext cx="8046720" cy="685800"/>
          </a:xfrm>
          <a:prstGeom prst="rect">
            <a:avLst/>
          </a:prstGeom>
          <a:noFill/>
        </p:spPr>
        <p:txBody>
          <a:bodyPr wrap="square" lIns="45720" rIns="45720" tIns="36576" bIns="27432">
            <a:spAutoFit/>
          </a:bodyPr>
          <a:lstStyle/>
          <a:p>
            <a:pPr>
              <a:spcAft>
                <a:spcPts val="500"/>
              </a:spcAft>
              <a:defRPr sz="1500" b="0">
                <a:solidFill>
                  <a:srgbClr val="F2F3F6"/>
                </a:solidFill>
                <a:latin typeface="Aptos"/>
              </a:defRPr>
            </a:pPr>
            <a:r>
              <a:t>GPS and live tracking  •  Map-based route optimization  •  Database connectivity  •  Customer notifications  •  Web/mobile interface</a:t>
            </a:r>
          </a:p>
        </p:txBody>
      </p:sp>
      <p:sp>
        <p:nvSpPr>
          <p:cNvPr id="10" name="TextBox 9"/>
          <p:cNvSpPr txBox="1"/>
          <p:nvPr/>
        </p:nvSpPr>
        <p:spPr>
          <a:xfrm>
            <a:off x="777240" y="5486400"/>
            <a:ext cx="10424160" cy="502920"/>
          </a:xfrm>
          <a:prstGeom prst="rect">
            <a:avLst/>
          </a:prstGeom>
          <a:noFill/>
        </p:spPr>
        <p:txBody>
          <a:bodyPr wrap="square" lIns="45720" rIns="45720" tIns="36576" bIns="27432">
            <a:spAutoFit/>
          </a:bodyPr>
          <a:lstStyle/>
          <a:p>
            <a:pPr algn="ctr">
              <a:spcAft>
                <a:spcPts val="500"/>
              </a:spcAft>
              <a:defRPr sz="2700" b="1">
                <a:solidFill>
                  <a:srgbClr val="F5BE2B"/>
                </a:solidFill>
                <a:latin typeface="Aptos"/>
              </a:defRPr>
            </a:pPr>
            <a:r>
              <a:t>THANK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51B"/>
        </a:solidFill>
        <a:effectLst/>
      </p:bgPr>
    </p:bg>
    <p:spTree>
      <p:nvGrpSpPr>
        <p:cNvPr id="1" name=""/>
        <p:cNvGrpSpPr/>
        <p:nvPr/>
      </p:nvGrpSpPr>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84048"/>
            <a:ext cx="10972800" cy="566928"/>
          </a:xfrm>
          <a:prstGeom prst="rect">
            <a:avLst/>
          </a:prstGeom>
          <a:noFill/>
        </p:spPr>
        <p:txBody>
          <a:bodyPr wrap="square" lIns="45720" rIns="45720" tIns="36576" bIns="27432">
            <a:spAutoFit/>
          </a:bodyPr>
          <a:lstStyle/>
          <a:p>
            <a:pPr>
              <a:spcAft>
                <a:spcPts val="500"/>
              </a:spcAft>
              <a:defRPr sz="2700" b="1">
                <a:solidFill>
                  <a:srgbClr val="F5BE2B"/>
                </a:solidFill>
                <a:latin typeface="Aptos"/>
              </a:defRPr>
            </a:pPr>
            <a:r>
              <a:t>Course Outcomes • CO1–CO6</a:t>
            </a:r>
          </a:p>
        </p:txBody>
      </p:sp>
      <p:sp>
        <p:nvSpPr>
          <p:cNvPr id="4" name="TextBox 3"/>
          <p:cNvSpPr txBox="1"/>
          <p:nvPr/>
        </p:nvSpPr>
        <p:spPr>
          <a:xfrm>
            <a:off x="658368" y="987552"/>
            <a:ext cx="10789920" cy="310896"/>
          </a:xfrm>
          <a:prstGeom prst="rect">
            <a:avLst/>
          </a:prstGeom>
          <a:noFill/>
        </p:spPr>
        <p:txBody>
          <a:bodyPr wrap="square" lIns="45720" rIns="45720" tIns="36576" bIns="27432">
            <a:spAutoFit/>
          </a:bodyPr>
          <a:lstStyle/>
          <a:p>
            <a:pPr>
              <a:spcAft>
                <a:spcPts val="500"/>
              </a:spcAft>
              <a:defRPr sz="1200" b="0">
                <a:solidFill>
                  <a:srgbClr val="B1B6C0"/>
                </a:solidFill>
                <a:latin typeface="Aptos"/>
              </a:defRPr>
            </a:pPr>
            <a:r>
              <a:t>Full Java syllabus coverage in the Courier Delivery Route &amp; Tracking System</a:t>
            </a:r>
          </a:p>
        </p:txBody>
      </p:sp>
      <p:sp>
        <p:nvSpPr>
          <p:cNvPr id="5" name="TextBox 4"/>
          <p:cNvSpPr txBox="1"/>
          <p:nvPr/>
        </p:nvSpPr>
        <p:spPr>
          <a:xfrm>
            <a:off x="640080" y="6537960"/>
            <a:ext cx="10789920" cy="182880"/>
          </a:xfrm>
          <a:prstGeom prst="rect">
            <a:avLst/>
          </a:prstGeom>
          <a:noFill/>
        </p:spPr>
        <p:txBody>
          <a:bodyPr wrap="square" lIns="45720" rIns="45720" tIns="36576" bIns="27432">
            <a:spAutoFit/>
          </a:bodyPr>
          <a:lstStyle/>
          <a:p>
            <a:pPr>
              <a:spcAft>
                <a:spcPts val="500"/>
              </a:spcAft>
              <a:defRPr sz="800" b="0">
                <a:solidFill>
                  <a:srgbClr val="B1B6C0"/>
                </a:solidFill>
                <a:latin typeface="Aptos"/>
              </a:defRPr>
            </a:pPr>
            <a:r>
              <a:t>Courier Delivery Route &amp; Tracking System  •  11</a:t>
            </a:r>
          </a:p>
        </p:txBody>
      </p:sp>
      <p:sp>
        <p:nvSpPr>
          <p:cNvPr id="6" name="Rounded Rectangle 5"/>
          <p:cNvSpPr/>
          <p:nvPr/>
        </p:nvSpPr>
        <p:spPr>
          <a:xfrm>
            <a:off x="777240" y="1508760"/>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1"/>
            <a:ext cx="7315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CO1</a:t>
            </a:r>
          </a:p>
        </p:txBody>
      </p:sp>
      <p:sp>
        <p:nvSpPr>
          <p:cNvPr id="8" name="TextBox 7"/>
          <p:cNvSpPr txBox="1"/>
          <p:nvPr/>
        </p:nvSpPr>
        <p:spPr>
          <a:xfrm>
            <a:off x="1783080" y="1645919"/>
            <a:ext cx="3794760" cy="658368"/>
          </a:xfrm>
          <a:prstGeom prst="rect">
            <a:avLst/>
          </a:prstGeom>
          <a:noFill/>
        </p:spPr>
        <p:txBody>
          <a:bodyPr wrap="square" lIns="45720" rIns="45720" tIns="36576" bIns="27432">
            <a:spAutoFit/>
          </a:bodyPr>
          <a:lstStyle/>
          <a:p>
            <a:pPr>
              <a:spcAft>
                <a:spcPts val="500"/>
              </a:spcAft>
              <a:defRPr sz="1300" b="0">
                <a:solidFill>
                  <a:srgbClr val="F2F3F6"/>
                </a:solidFill>
                <a:latin typeface="Aptos"/>
              </a:defRPr>
            </a:pPr>
            <a:r>
              <a:t>Java foundations, problem-solving, operators and console I/O</a:t>
            </a:r>
          </a:p>
        </p:txBody>
      </p:sp>
      <p:sp>
        <p:nvSpPr>
          <p:cNvPr id="9" name="Rounded Rectangle 8"/>
          <p:cNvSpPr/>
          <p:nvPr/>
        </p:nvSpPr>
        <p:spPr>
          <a:xfrm>
            <a:off x="6263640" y="1508760"/>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73351"/>
            <a:ext cx="7315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CO2</a:t>
            </a:r>
          </a:p>
        </p:txBody>
      </p:sp>
      <p:sp>
        <p:nvSpPr>
          <p:cNvPr id="11" name="TextBox 10"/>
          <p:cNvSpPr txBox="1"/>
          <p:nvPr/>
        </p:nvSpPr>
        <p:spPr>
          <a:xfrm>
            <a:off x="7269479" y="1645919"/>
            <a:ext cx="3794760" cy="658368"/>
          </a:xfrm>
          <a:prstGeom prst="rect">
            <a:avLst/>
          </a:prstGeom>
          <a:noFill/>
        </p:spPr>
        <p:txBody>
          <a:bodyPr wrap="square" lIns="45720" rIns="45720" tIns="36576" bIns="27432">
            <a:spAutoFit/>
          </a:bodyPr>
          <a:lstStyle/>
          <a:p>
            <a:pPr>
              <a:spcAft>
                <a:spcPts val="500"/>
              </a:spcAft>
              <a:defRPr sz="1300" b="0">
                <a:solidFill>
                  <a:srgbClr val="F2F3F6"/>
                </a:solidFill>
                <a:latin typeface="Aptos"/>
              </a:defRPr>
            </a:pPr>
            <a:r>
              <a:t>Conditions, switch statements and loops</a:t>
            </a:r>
          </a:p>
        </p:txBody>
      </p:sp>
      <p:sp>
        <p:nvSpPr>
          <p:cNvPr id="12" name="Rounded Rectangle 11"/>
          <p:cNvSpPr/>
          <p:nvPr/>
        </p:nvSpPr>
        <p:spPr>
          <a:xfrm>
            <a:off x="777240" y="2862072"/>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026664"/>
            <a:ext cx="7315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CO3</a:t>
            </a:r>
          </a:p>
        </p:txBody>
      </p:sp>
      <p:sp>
        <p:nvSpPr>
          <p:cNvPr id="14" name="TextBox 13"/>
          <p:cNvSpPr txBox="1"/>
          <p:nvPr/>
        </p:nvSpPr>
        <p:spPr>
          <a:xfrm>
            <a:off x="1783080" y="2999232"/>
            <a:ext cx="3794760" cy="658368"/>
          </a:xfrm>
          <a:prstGeom prst="rect">
            <a:avLst/>
          </a:prstGeom>
          <a:noFill/>
        </p:spPr>
        <p:txBody>
          <a:bodyPr wrap="square" lIns="45720" rIns="45720" tIns="36576" bIns="27432">
            <a:spAutoFit/>
          </a:bodyPr>
          <a:lstStyle/>
          <a:p>
            <a:pPr>
              <a:spcAft>
                <a:spcPts val="500"/>
              </a:spcAft>
              <a:defRPr sz="1300" b="0">
                <a:solidFill>
                  <a:srgbClr val="F2F3F6"/>
                </a:solidFill>
                <a:latin typeface="Aptos"/>
              </a:defRPr>
            </a:pPr>
            <a:r>
              <a:t>Methods, recursion and 1D/2D arrays</a:t>
            </a:r>
          </a:p>
        </p:txBody>
      </p:sp>
      <p:sp>
        <p:nvSpPr>
          <p:cNvPr id="15" name="Rounded Rectangle 14"/>
          <p:cNvSpPr/>
          <p:nvPr/>
        </p:nvSpPr>
        <p:spPr>
          <a:xfrm>
            <a:off x="6263640" y="2862072"/>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026664"/>
            <a:ext cx="7315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CO4</a:t>
            </a:r>
          </a:p>
        </p:txBody>
      </p:sp>
      <p:sp>
        <p:nvSpPr>
          <p:cNvPr id="17" name="TextBox 16"/>
          <p:cNvSpPr txBox="1"/>
          <p:nvPr/>
        </p:nvSpPr>
        <p:spPr>
          <a:xfrm>
            <a:off x="7269479" y="2999232"/>
            <a:ext cx="3794760" cy="658368"/>
          </a:xfrm>
          <a:prstGeom prst="rect">
            <a:avLst/>
          </a:prstGeom>
          <a:noFill/>
        </p:spPr>
        <p:txBody>
          <a:bodyPr wrap="square" lIns="45720" rIns="45720" tIns="36576" bIns="27432">
            <a:spAutoFit/>
          </a:bodyPr>
          <a:lstStyle/>
          <a:p>
            <a:pPr>
              <a:spcAft>
                <a:spcPts val="500"/>
              </a:spcAft>
              <a:defRPr sz="1300" b="0">
                <a:solidFill>
                  <a:srgbClr val="F2F3F6"/>
                </a:solidFill>
                <a:latin typeface="Aptos"/>
              </a:defRPr>
            </a:pPr>
            <a:r>
              <a:t>OOP design, inheritance, interfaces and exceptions</a:t>
            </a:r>
          </a:p>
        </p:txBody>
      </p:sp>
      <p:sp>
        <p:nvSpPr>
          <p:cNvPr id="18" name="Rounded Rectangle 17"/>
          <p:cNvSpPr/>
          <p:nvPr/>
        </p:nvSpPr>
        <p:spPr>
          <a:xfrm>
            <a:off x="777240" y="4215383"/>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379975"/>
            <a:ext cx="7315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CO5</a:t>
            </a:r>
          </a:p>
        </p:txBody>
      </p:sp>
      <p:sp>
        <p:nvSpPr>
          <p:cNvPr id="20" name="TextBox 19"/>
          <p:cNvSpPr txBox="1"/>
          <p:nvPr/>
        </p:nvSpPr>
        <p:spPr>
          <a:xfrm>
            <a:off x="1783080" y="4352544"/>
            <a:ext cx="3794760" cy="658368"/>
          </a:xfrm>
          <a:prstGeom prst="rect">
            <a:avLst/>
          </a:prstGeom>
          <a:noFill/>
        </p:spPr>
        <p:txBody>
          <a:bodyPr wrap="square" lIns="45720" rIns="45720" tIns="36576" bIns="27432">
            <a:spAutoFit/>
          </a:bodyPr>
          <a:lstStyle/>
          <a:p>
            <a:pPr>
              <a:spcAft>
                <a:spcPts val="500"/>
              </a:spcAft>
              <a:defRPr sz="1300" b="0">
                <a:solidFill>
                  <a:srgbClr val="F2F3F6"/>
                </a:solidFill>
                <a:latin typeface="Aptos"/>
              </a:defRPr>
            </a:pPr>
            <a:r>
              <a:t>Strings, searching/sorting algorithms and file I/O</a:t>
            </a:r>
          </a:p>
        </p:txBody>
      </p:sp>
      <p:sp>
        <p:nvSpPr>
          <p:cNvPr id="21" name="Rounded Rectangle 20"/>
          <p:cNvSpPr/>
          <p:nvPr/>
        </p:nvSpPr>
        <p:spPr>
          <a:xfrm>
            <a:off x="6263640" y="4215383"/>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379975"/>
            <a:ext cx="731520" cy="320040"/>
          </a:xfrm>
          <a:prstGeom prst="rect">
            <a:avLst/>
          </a:prstGeom>
          <a:noFill/>
        </p:spPr>
        <p:txBody>
          <a:bodyPr wrap="square" lIns="45720" rIns="45720" tIns="36576" bIns="27432">
            <a:spAutoFit/>
          </a:bodyPr>
          <a:lstStyle/>
          <a:p>
            <a:pPr>
              <a:spcAft>
                <a:spcPts val="500"/>
              </a:spcAft>
              <a:defRPr sz="1600" b="1">
                <a:solidFill>
                  <a:srgbClr val="F5BE2B"/>
                </a:solidFill>
                <a:latin typeface="Aptos"/>
              </a:defRPr>
            </a:pPr>
            <a:r>
              <a:t>CO6</a:t>
            </a:r>
          </a:p>
        </p:txBody>
      </p:sp>
      <p:sp>
        <p:nvSpPr>
          <p:cNvPr id="23" name="TextBox 22"/>
          <p:cNvSpPr txBox="1"/>
          <p:nvPr/>
        </p:nvSpPr>
        <p:spPr>
          <a:xfrm>
            <a:off x="7269479" y="4352544"/>
            <a:ext cx="3794760" cy="658368"/>
          </a:xfrm>
          <a:prstGeom prst="rect">
            <a:avLst/>
          </a:prstGeom>
          <a:noFill/>
        </p:spPr>
        <p:txBody>
          <a:bodyPr wrap="square" lIns="45720" rIns="45720" tIns="36576" bIns="27432">
            <a:spAutoFit/>
          </a:bodyPr>
          <a:lstStyle/>
          <a:p>
            <a:pPr>
              <a:spcAft>
                <a:spcPts val="500"/>
              </a:spcAft>
              <a:defRPr sz="1300" b="0">
                <a:solidFill>
                  <a:srgbClr val="F2F3F6"/>
                </a:solidFill>
                <a:latin typeface="Aptos"/>
              </a:defRPr>
            </a:pPr>
            <a:r>
              <a:t>Collections, generics, lambdas, functional interfaces and streams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